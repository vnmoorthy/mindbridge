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4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188720"/>
            <a:ext cx="3291840" cy="3291840"/>
          </a:xfrm>
          <a:prstGeom prst="ellipse">
            <a:avLst/>
          </a:prstGeom>
          <a:solidFill>
            <a:srgbClr val="F6F3EA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9144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5A7D55"/>
          </a:solidFill>
          <a:ln/>
        </p:spPr>
      </p:sp>
      <p:sp>
        <p:nvSpPr>
          <p:cNvPr id="4" name="Text 2"/>
          <p:cNvSpPr/>
          <p:nvPr/>
        </p:nvSpPr>
        <p:spPr>
          <a:xfrm>
            <a:off x="1600200" y="8229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MindBridge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50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Rebuild the training calendar.</a:t>
            </a:r>
            <a:endParaRPr lang="en-US" sz="5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0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hand it back.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91440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daily-routine engine that reintegrates post-war veterans — and is engineered to make itself unnecessary.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5486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9CB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MLH × DIGITALOCEAN  ·  AI FOR SOCIAL GOOD  ·  SAN FRANCISCO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5897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→ vnmoorthy.github.io/mindbridge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188720"/>
            <a:ext cx="3291840" cy="3291840"/>
          </a:xfrm>
          <a:prstGeom prst="ellipse">
            <a:avLst/>
          </a:prstGeom>
          <a:solidFill>
            <a:srgbClr val="3A5A40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97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MINDBRIDGE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89520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vnmoorthy.github.io/mindbridge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A5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Coming home breaks the operating system.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4572000" cy="38404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52400" dist="38100" dir="5400000">
              <a:srgbClr val="88888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21945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3A5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 11</a:t>
            </a:r>
            <a:endParaRPr lang="en-US" sz="7000" dirty="0"/>
          </a:p>
        </p:txBody>
      </p:sp>
      <p:sp>
        <p:nvSpPr>
          <p:cNvPr id="9" name="Text 7"/>
          <p:cNvSpPr/>
          <p:nvPr/>
        </p:nvSpPr>
        <p:spPr>
          <a:xfrm>
            <a:off x="822960" y="33832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veterans will live with PTSD in their lifetime.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42976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12–18 months of civilian life are the highest-risk window.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0" y="1920240"/>
            <a:ext cx="256032" cy="256032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12" name="Text 10"/>
          <p:cNvSpPr/>
          <p:nvPr/>
        </p:nvSpPr>
        <p:spPr>
          <a:xfrm>
            <a:off x="6126480" y="18013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fatigue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126480" y="22402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top-down structure → total self-direction, overnight. Executive function stalls.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669280" y="3218688"/>
            <a:ext cx="256032" cy="256032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0" y="309981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Isolation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126480" y="3538728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unit, the shared mission, the identity — all gone at once.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669280" y="4517136"/>
            <a:ext cx="256032" cy="256032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439826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Flat directories fall short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126480" y="483717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like BattleBuddy are lists of phone numbers. A list doesn't rebuild a life.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188720"/>
            <a:ext cx="3291840" cy="3291840"/>
          </a:xfrm>
          <a:prstGeom prst="ellipse">
            <a:avLst/>
          </a:prstGeom>
          <a:solidFill>
            <a:srgbClr val="3A5A40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97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MINDBRIDGE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89520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vnmoorthy.github.io/mindbridge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A5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the structure back on day one. Then remove it, on purpose.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MindBridge reconstructs the missing military “training calendar,” map-matched to real San Francisco resources — then systematically dials back its own rigidity as the veteran stabilizes.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356616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6A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37033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OPORD Schedule Builder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8680" y="44348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daily Operations Order with a Dependency Gate so the day can't collapse.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3063240"/>
            <a:ext cx="356616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1772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6A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17720" y="37033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SitRep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17720" y="44348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Talk, twice a day. Gradient AI reads your state and reshapes the plan — and escalates on crisis.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46720" y="3063240"/>
            <a:ext cx="356616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6676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6A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66760" y="37033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Phase-Down Engine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366760" y="44348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consistency rises, the app hands autonomy back: Garrison → Stand-Down.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188720"/>
            <a:ext cx="3291840" cy="3291840"/>
          </a:xfrm>
          <a:prstGeom prst="ellipse">
            <a:avLst/>
          </a:prstGeom>
          <a:solidFill>
            <a:srgbClr val="3A5A40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97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MINDBRIDGE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89520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vnmoorthy.github.io/mindbridge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A5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01 · SCHEDULE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OPORD Schedule Builder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mission track — Student, Tech Job-Hunt, or Recovery. Gradient AI builds the day as an Operations Order.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69494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54203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C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07:00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828800" y="2423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Morning Formation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828800" y="2788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SitRep check-in — set the baseline and confirm readiness.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286000"/>
            <a:ext cx="82296" cy="960120"/>
          </a:xfrm>
          <a:prstGeom prst="roundRect">
            <a:avLst>
              <a:gd name="adj" fmla="val 44444"/>
            </a:avLst>
          </a:prstGeom>
          <a:solidFill>
            <a:srgbClr val="3A5A40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3383280"/>
            <a:ext cx="69494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6393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C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08:00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828800" y="3520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Focused Sortie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828800" y="3886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work block aligned to your track. Minimal comms.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383280"/>
            <a:ext cx="82296" cy="960120"/>
          </a:xfrm>
          <a:prstGeom prst="roundRect">
            <a:avLst>
              <a:gd name="adj" fmla="val 44444"/>
            </a:avLst>
          </a:prstGeom>
          <a:solidFill>
            <a:srgbClr val="5A7D55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4480560"/>
            <a:ext cx="69494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73659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C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12:00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8288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Stand-Down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828800" y="4983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Chow and decompression before afternoon operations.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480560"/>
            <a:ext cx="82296" cy="960120"/>
          </a:xfrm>
          <a:prstGeom prst="roundRect">
            <a:avLst>
              <a:gd name="adj" fmla="val 44444"/>
            </a:avLst>
          </a:prstGeom>
          <a:solidFill>
            <a:srgbClr val="B06A2C"/>
          </a:solidFill>
          <a:ln/>
        </p:spPr>
      </p:sp>
      <p:sp>
        <p:nvSpPr>
          <p:cNvPr id="23" name="Shape 21"/>
          <p:cNvSpPr/>
          <p:nvPr/>
        </p:nvSpPr>
        <p:spPr>
          <a:xfrm>
            <a:off x="7772400" y="2286000"/>
            <a:ext cx="3840480" cy="3337560"/>
          </a:xfrm>
          <a:prstGeom prst="roundRect">
            <a:avLst>
              <a:gd name="adj" fmla="val 3836"/>
            </a:avLst>
          </a:prstGeom>
          <a:solidFill>
            <a:srgbClr val="3A5A40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0" y="2560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Dependency Gate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8046720" y="315468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8E4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block stays LOCKED until you confirm the last one.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8E4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more days that quietly fall apart — the anti-collapse mechanism that keeps momentum.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188720"/>
            <a:ext cx="3291840" cy="3291840"/>
          </a:xfrm>
          <a:prstGeom prst="ellipse">
            <a:avLst/>
          </a:prstGeom>
          <a:solidFill>
            <a:srgbClr val="3A5A40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97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MINDBRIDGE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89520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vnmoorthy.github.io/mindbridge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A5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02 · VOICE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“SitRep” Check-Ins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0700 and 2100, the veteran just talks — like a phone call. Powered by DigitalOcean Gradient AI (live).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331720"/>
            <a:ext cx="67665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688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Reads the ground truth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28346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Sleep, cognitive readiness, and emotional baseline — no inspection, no wrong answers.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429000"/>
            <a:ext cx="67665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56616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Reshapes the day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22960" y="39319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weekend anxiety and it restructures the afternoon, surfacing a real SF destination.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526280"/>
            <a:ext cx="67665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6634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Escalates on crisis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50292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crisis detection stops everything for the Veterans Crisis Line — dial 988, press 1.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680960" y="2331720"/>
            <a:ext cx="3931920" cy="32918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9050">
            <a:solidFill>
              <a:srgbClr val="B23A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0" y="2606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Contextual RAG routing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955280" y="3200400"/>
            <a:ext cx="3383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therapist. Not a robot. A custom retrieval pipeline over local SF resource data turns “I'm isolated this weekend” into a concrete plan — a Presidio trail crew, a library workspace, a Swords to Plowshares appointment.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58704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06A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58247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night, a guided Wind-Down — box-breathing plus sleep-prep — helps a veteran power the day down.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44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188720"/>
            <a:ext cx="3291840" cy="3291840"/>
          </a:xfrm>
          <a:prstGeom prst="ellipse">
            <a:avLst/>
          </a:prstGeom>
          <a:solidFill>
            <a:srgbClr val="F6F3EA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D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MINDBRIDGE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89520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vnmoorthy.github.io/mindbridge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EC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03 · AUTONOMY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Phase-Down Engine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apps want you dependent forever. Ours is engineered to become unnecessary.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828800" y="2514600"/>
            <a:ext cx="640080" cy="640080"/>
          </a:xfrm>
          <a:prstGeom prst="ellipse">
            <a:avLst/>
          </a:prstGeom>
          <a:solidFill>
            <a:srgbClr val="5A7D55"/>
          </a:solidFill>
          <a:ln w="12700">
            <a:solidFill>
              <a:srgbClr val="5A7D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3291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Garrison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3657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C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24h military notation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337560" y="2697480"/>
            <a:ext cx="292608" cy="274320"/>
          </a:xfrm>
          <a:prstGeom prst="chevron">
            <a:avLst/>
          </a:prstGeom>
          <a:solidFill>
            <a:srgbClr val="6E8A72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2514600"/>
            <a:ext cx="640080" cy="640080"/>
          </a:xfrm>
          <a:prstGeom prst="ellipse">
            <a:avLst/>
          </a:prstGeom>
          <a:solidFill>
            <a:srgbClr val="3C5A44"/>
          </a:solidFill>
          <a:ln w="12700">
            <a:solidFill>
              <a:srgbClr val="5A7D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566160" y="3291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Active Transition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566160" y="3657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C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free-choice “Asymmetric Blocks”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80760" y="2697480"/>
            <a:ext cx="292608" cy="274320"/>
          </a:xfrm>
          <a:prstGeom prst="chevron">
            <a:avLst/>
          </a:prstGeom>
          <a:solidFill>
            <a:srgbClr val="6E8A72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0" y="2514600"/>
            <a:ext cx="640080" cy="640080"/>
          </a:xfrm>
          <a:prstGeom prst="ellipse">
            <a:avLst/>
          </a:prstGeom>
          <a:solidFill>
            <a:srgbClr val="3C5A44"/>
          </a:solidFill>
          <a:ln w="12700">
            <a:solidFill>
              <a:srgbClr val="5A7D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309360" y="3291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309360" y="3657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C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Squad civic missions; terms soften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823960" y="2697480"/>
            <a:ext cx="292608" cy="274320"/>
          </a:xfrm>
          <a:prstGeom prst="chevron">
            <a:avLst/>
          </a:prstGeom>
          <a:solidFill>
            <a:srgbClr val="6E8A72"/>
          </a:solidFill>
          <a:ln/>
        </p:spPr>
      </p:sp>
      <p:sp>
        <p:nvSpPr>
          <p:cNvPr id="23" name="Shape 21"/>
          <p:cNvSpPr/>
          <p:nvPr/>
        </p:nvSpPr>
        <p:spPr>
          <a:xfrm>
            <a:off x="10058400" y="2514600"/>
            <a:ext cx="640080" cy="640080"/>
          </a:xfrm>
          <a:prstGeom prst="ellipse">
            <a:avLst/>
          </a:prstGeom>
          <a:solidFill>
            <a:srgbClr val="3C5A44"/>
          </a:solidFill>
          <a:ln w="12700">
            <a:solidFill>
              <a:srgbClr val="5A7D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052560" y="3291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Stand-Down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052560" y="3657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C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Self-directed civilian calendar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7C9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rising “Freedom Gauge” — not a wellness score — tracks Routine Consistency until the training wheels come off.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188720"/>
            <a:ext cx="3291840" cy="3291840"/>
          </a:xfrm>
          <a:prstGeom prst="ellipse">
            <a:avLst/>
          </a:prstGeom>
          <a:solidFill>
            <a:srgbClr val="3A5A40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97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MINDBRIDGE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89520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vnmoorthy.github.io/mindbridge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A5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CIVIC SERVICE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Squad Missions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Reintegration medicine: veterans matched into squads for real civic work across San Francisco — rebuilding camaraderie and purpose.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377440"/>
            <a:ext cx="3566160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377440"/>
            <a:ext cx="3566160" cy="914400"/>
          </a:xfrm>
          <a:prstGeom prst="roundRect">
            <a:avLst>
              <a:gd name="adj" fmla="val 14000"/>
            </a:avLst>
          </a:prstGeom>
          <a:solidFill>
            <a:srgbClr val="3A5A40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FE0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CIVIC MISSION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34290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Eco-Restoration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40690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Lands End, SF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44348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</a:t>
            </a:r>
            <a:pPr indent="0" marL="0">
              <a:buNone/>
            </a:pPr>
            <a:r>
              <a:rPr lang="en-US" sz="1250" b="1" dirty="0">
                <a:solidFill>
                  <a:srgbClr val="1F2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Sgt. Miller (Ret.)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480060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5A7D55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80974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Squad 4/6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0" y="2377440"/>
            <a:ext cx="3566160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297680" y="2377440"/>
            <a:ext cx="3566160" cy="914400"/>
          </a:xfrm>
          <a:prstGeom prst="roundRect">
            <a:avLst>
              <a:gd name="adj" fmla="val 14000"/>
            </a:avLst>
          </a:prstGeom>
          <a:solidFill>
            <a:srgbClr val="3A5A4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FE0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CIVIC MISSION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0" y="34290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Garden Build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0" y="40690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Presidio, SF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0" y="44348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</a:t>
            </a:r>
            <a:pPr indent="0" marL="0">
              <a:buNone/>
            </a:pPr>
            <a:r>
              <a:rPr lang="en-US" sz="1250" b="1" dirty="0">
                <a:solidFill>
                  <a:srgbClr val="1F2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Cpl. Davis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5A7D55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0" y="480974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Squad 2 left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2377440"/>
            <a:ext cx="3566160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0" y="2377440"/>
            <a:ext cx="3566160" cy="914400"/>
          </a:xfrm>
          <a:prstGeom prst="roundRect">
            <a:avLst>
              <a:gd name="adj" fmla="val 14000"/>
            </a:avLst>
          </a:prstGeom>
          <a:solidFill>
            <a:srgbClr val="3A5A40"/>
          </a:solidFill>
          <a:ln/>
        </p:spPr>
      </p:sp>
      <p:sp>
        <p:nvSpPr>
          <p:cNvPr id="26" name="Text 24"/>
          <p:cNvSpPr/>
          <p:nvPr/>
        </p:nvSpPr>
        <p:spPr>
          <a:xfrm>
            <a:off x="832104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FE0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CIVIC MISSION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21040" y="34290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Food Bank Logistics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321040" y="40690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Dogpatch, SF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21040" y="44348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</a:t>
            </a:r>
            <a:pPr indent="0" marL="0">
              <a:buNone/>
            </a:pPr>
            <a:r>
              <a:rPr lang="en-US" sz="1250" b="1" dirty="0">
                <a:solidFill>
                  <a:srgbClr val="1F2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Lt. Chen (Ret.)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321040" y="480060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5A7D55"/>
          </a:solidFill>
          <a:ln/>
        </p:spPr>
      </p:sp>
      <p:sp>
        <p:nvSpPr>
          <p:cNvPr id="31" name="Text 29"/>
          <p:cNvSpPr/>
          <p:nvPr/>
        </p:nvSpPr>
        <p:spPr>
          <a:xfrm>
            <a:off x="8321040" y="480974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Squad Full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 from DataSF, the Presidio Trust, and Swords to Plowshares.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F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188720"/>
            <a:ext cx="3291840" cy="3291840"/>
          </a:xfrm>
          <a:prstGeom prst="ellipse">
            <a:avLst/>
          </a:prstGeom>
          <a:solidFill>
            <a:srgbClr val="3A5A40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97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MINDBRIDGE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89520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vnmoorthy.github.io/mindbridge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A5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closed loop, powered by Gradient AI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18488" y="2331720"/>
            <a:ext cx="512064" cy="512064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9" name="Text 7"/>
          <p:cNvSpPr/>
          <p:nvPr/>
        </p:nvSpPr>
        <p:spPr>
          <a:xfrm>
            <a:off x="1618488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SitRep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" y="3310128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· readiness · mood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18688" y="2788920"/>
            <a:ext cx="182880" cy="320040"/>
          </a:xfrm>
          <a:prstGeom prst="chevron">
            <a:avLst/>
          </a:prstGeom>
          <a:solidFill>
            <a:srgbClr val="5A7D55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210312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98848" y="2331720"/>
            <a:ext cx="512064" cy="512064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15" name="Text 13"/>
          <p:cNvSpPr/>
          <p:nvPr/>
        </p:nvSpPr>
        <p:spPr>
          <a:xfrm>
            <a:off x="4498848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520440" y="29718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AI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538728" y="3310128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+ autonomy signals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099048" y="2788920"/>
            <a:ext cx="182880" cy="320040"/>
          </a:xfrm>
          <a:prstGeom prst="chevron">
            <a:avLst/>
          </a:prstGeom>
          <a:solidFill>
            <a:srgbClr val="5A7D55"/>
          </a:solidFill>
          <a:ln/>
        </p:spPr>
      </p:sp>
      <p:sp>
        <p:nvSpPr>
          <p:cNvPr id="19" name="Shape 17"/>
          <p:cNvSpPr/>
          <p:nvPr/>
        </p:nvSpPr>
        <p:spPr>
          <a:xfrm>
            <a:off x="6309360" y="210312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9208" y="2331720"/>
            <a:ext cx="512064" cy="512064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21" name="Text 19"/>
          <p:cNvSpPr/>
          <p:nvPr/>
        </p:nvSpPr>
        <p:spPr>
          <a:xfrm>
            <a:off x="7379208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00800" y="29718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Autonomy Engine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19088" y="3310128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Freedom Gauge → phase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979408" y="2788920"/>
            <a:ext cx="182880" cy="320040"/>
          </a:xfrm>
          <a:prstGeom prst="chevron">
            <a:avLst/>
          </a:prstGeom>
          <a:solidFill>
            <a:srgbClr val="5A7D55"/>
          </a:solidFill>
          <a:ln/>
        </p:spPr>
      </p:sp>
      <p:sp>
        <p:nvSpPr>
          <p:cNvPr id="25" name="Shape 23"/>
          <p:cNvSpPr/>
          <p:nvPr/>
        </p:nvSpPr>
        <p:spPr>
          <a:xfrm>
            <a:off x="9189720" y="210312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259568" y="2331720"/>
            <a:ext cx="512064" cy="512064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27" name="Text 25"/>
          <p:cNvSpPr/>
          <p:nvPr/>
        </p:nvSpPr>
        <p:spPr>
          <a:xfrm>
            <a:off x="10259568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281160" y="29718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OPORD Builder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299448" y="3310128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tomorrow's schedule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4297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real SF data (Library, Rec &amp; Parks, DPH, Presidio, Swords to Plowshares) and demo-proof: if a call fails, a self-contained responder keeps it running.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Prize tracks: Best Use of Gradient AI · Best Use of Data · Best UI/UX · Best Beginner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188720"/>
            <a:ext cx="3291840" cy="3291840"/>
          </a:xfrm>
          <a:prstGeom prst="ellipse">
            <a:avLst/>
          </a:prstGeom>
          <a:solidFill>
            <a:srgbClr val="3A5A40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97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MINDBRIDGE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89520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vnmoorthy.github.io/mindbridge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A5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WORKS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peer-reviewed pillars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14300" dist="25400" dir="5400000">
              <a:srgbClr val="888888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121408"/>
            <a:ext cx="274320" cy="274320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20299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Behavioral Activation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routines combat avoidance &amp; executive dysfunction (Etherton &amp; Farley, 2020; g = 1.48).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7220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14300" dist="25400" dir="5400000">
              <a:srgbClr val="888888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46520" y="2121408"/>
            <a:ext cx="274320" cy="274320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0" y="20299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Nature-Assisted Therapy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Green-space “Active Recovery” lowers cortisol and hypervigilance (Bettmann et al., 2023).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14300" dist="25400" dir="5400000">
              <a:srgbClr val="888888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" y="4087368"/>
            <a:ext cx="274320" cy="274320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17" name="Text 15"/>
          <p:cNvSpPr/>
          <p:nvPr/>
        </p:nvSpPr>
        <p:spPr>
          <a:xfrm>
            <a:off x="1234440" y="399592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Civic Volunteering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 of service dropped veteran PTSD 50%→43%, depression 23.5%→15% (SLU/DAV, 2018).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7220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ED9C9"/>
            </a:solidFill>
            <a:prstDash val="solid"/>
          </a:ln>
          <a:effectLst>
            <a:outerShdw sx="100000" sy="100000" kx="0" ky="0" algn="bl" rotWithShape="0" blurRad="114300" dist="25400" dir="5400000">
              <a:srgbClr val="888888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4087368"/>
            <a:ext cx="274320" cy="274320"/>
          </a:xfrm>
          <a:prstGeom prst="ellipse">
            <a:avLst/>
          </a:prstGeom>
          <a:solidFill>
            <a:srgbClr val="3A5A4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399592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Peer Camaraderie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4652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56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 of younger veterans call peer connection critical to recovery (JAMA Netw. Open).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44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188720"/>
            <a:ext cx="3291840" cy="3291840"/>
          </a:xfrm>
          <a:prstGeom prst="ellipse">
            <a:avLst/>
          </a:prstGeom>
          <a:solidFill>
            <a:srgbClr val="F6F3EA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0" y="777240"/>
            <a:ext cx="1188720" cy="1188720"/>
          </a:xfrm>
          <a:prstGeom prst="ellipse">
            <a:avLst/>
          </a:prstGeom>
          <a:solidFill>
            <a:srgbClr val="5A7D55">
              <a:alpha val="8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3317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served.</a:t>
            </a:r>
            <a:endParaRPr lang="en-US" sz="44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6F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hand the compass back.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MindBridge — from isolated survival mode to visible community leadership.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4892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7C9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 vnmoorthy.github.io/mindbridge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9DB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 github.com/vnmoorthy/mindbridge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0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live on DigitalOcean Gradient AI.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MindBridge — Pitch Deck</dc:title>
  <dc:subject>PptxGenJS Presentation</dc:subject>
  <dc:creator>MindBridge Team</dc:creator>
  <cp:lastModifiedBy>MindBridge Team</cp:lastModifiedBy>
  <cp:revision>1</cp:revision>
  <dcterms:created xsi:type="dcterms:W3CDTF">2026-07-11T22:13:57Z</dcterms:created>
  <dcterms:modified xsi:type="dcterms:W3CDTF">2026-07-11T22:13:57Z</dcterms:modified>
</cp:coreProperties>
</file>