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F6F3E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A7D55"/>
          </a:solidFill>
          <a:ln/>
        </p:spPr>
      </p:sp>
      <p:sp>
        <p:nvSpPr>
          <p:cNvPr id="4" name="Text 2"/>
          <p:cNvSpPr/>
          <p:nvPr/>
        </p:nvSpPr>
        <p:spPr>
          <a:xfrm>
            <a:off x="1600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Basecamp SF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the training calendar.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hand it back.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daily-routine engine that reintegrates post-war veterans — and is engineered to make itself unnecessary.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C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MLH × DIGITALOCEAN  ·  AI FOR SOCIAL GOOD  ·  SAN FRANCISCO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→ vnmoorthy.github.io/mindbridge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3A5A4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BASECAMP SF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home breaks the operating system.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0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524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94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3A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11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veterans will live with PTSD in their lifetime.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12–18 months of civilian life are the highest-risk window.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920240"/>
            <a:ext cx="256032" cy="256032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801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fatigue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126480" y="2240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top-down structure → total self-direction, overnight. Executive function stalls.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0" y="3218688"/>
            <a:ext cx="256032" cy="256032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0998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126480" y="353872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unit, the shared mission, the identity — all gone at once.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0" y="4517136"/>
            <a:ext cx="256032" cy="256032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43982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directories fall short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126480" y="483717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BattleBuddy are lists of phone numbers. A list doesn't rebuild a life.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3A5A4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BASECAMP SF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structure back on day one. Then remove it, on purpose.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Basecamp SF reconstructs the missing military “training calendar,” map-matched to real San Francisco resources — then systematically dials back its own rigidity as the veteran stabilizes.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OPORD Schedule Builder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daily Operations Order with a Dependency Gate so the day can't collapse.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306324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SitRep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4434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Talk, twice a day. Gradient AI reads your state and reshapes the plan — and escalates on crisis.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306324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Phase-Down Engine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4434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consistency rises, the app hands autonomy back: Garrison → Stand-Down.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3A5A4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BASECAMP SF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01 · SCHEDULE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OPORD Schedule Builder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mission track — Student, Tech Job-Hunt, or Recovery. Gradient AI builds the day as an Operations Order.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 Formation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SitRep check-in — set the baseline and confirm readiness.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2296" cy="960120"/>
          </a:xfrm>
          <a:prstGeom prst="roundRect">
            <a:avLst>
              <a:gd name="adj" fmla="val 44444"/>
            </a:avLst>
          </a:prstGeom>
          <a:solidFill>
            <a:srgbClr val="3A5A4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8328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393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Focused Sortie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2880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block aligned to your track. Minimal comms.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82296" cy="960120"/>
          </a:xfrm>
          <a:prstGeom prst="roundRect">
            <a:avLst>
              <a:gd name="adj" fmla="val 44444"/>
            </a:avLst>
          </a:prstGeom>
          <a:solidFill>
            <a:srgbClr val="5A7D55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48056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36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Stand-Down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82880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 and decompression before afternoon operations.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82296" cy="960120"/>
          </a:xfrm>
          <a:prstGeom prst="roundRect">
            <a:avLst>
              <a:gd name="adj" fmla="val 44444"/>
            </a:avLst>
          </a:prstGeom>
          <a:solidFill>
            <a:srgbClr val="B06A2C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2286000"/>
            <a:ext cx="3840480" cy="3337560"/>
          </a:xfrm>
          <a:prstGeom prst="roundRect">
            <a:avLst>
              <a:gd name="adj" fmla="val 3836"/>
            </a:avLst>
          </a:prstGeom>
          <a:solidFill>
            <a:srgbClr val="3A5A4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Dependency Gate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46720" y="315468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block stays LOCKED until you confirm the last one.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days that quietly fall apart — the anti-collapse mechanism that keeps momentum.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3A5A4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BASECAMP SF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02 · VOICE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“SitRep” Check-Ins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0700 and 2100, the veteran just talks — like a phone call. Powered by DigitalOcean Gradient AI (live).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766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the ground truth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cognitive readiness, and emotional baseline — no inspection, no wrong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6766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Reshapes the day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weekend anxiety and it restructures the afternoon, surfacing a real SF destination.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6766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63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on crisis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crisis detection stops everything for the Veterans Crisis Line — dial 988, press 1.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2331720"/>
            <a:ext cx="393192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RAG routing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55280" y="3200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therapist. Not a robot. A custom retrieval pipeline over local SF resource data turns “I'm isolated this weekend” into a concrete plan — a Presidio trail crew, a library workspace, a Swords to Plowshares appointment.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F6F3E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BASECAMP SF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03 · AUTONOMY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Phase-Down Engine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want you dependent forever. Ours is engineered to become unnecessary.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828800" y="2514600"/>
            <a:ext cx="640080" cy="640080"/>
          </a:xfrm>
          <a:prstGeom prst="ellipse">
            <a:avLst/>
          </a:prstGeom>
          <a:solidFill>
            <a:srgbClr val="5A7D55"/>
          </a:solidFill>
          <a:ln w="12700">
            <a:solidFill>
              <a:srgbClr val="5A7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Garrison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C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24h military notation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2697480"/>
            <a:ext cx="292608" cy="274320"/>
          </a:xfrm>
          <a:prstGeom prst="chevron">
            <a:avLst/>
          </a:prstGeom>
          <a:solidFill>
            <a:srgbClr val="6E8A7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514600"/>
            <a:ext cx="640080" cy="640080"/>
          </a:xfrm>
          <a:prstGeom prst="ellipse">
            <a:avLst/>
          </a:prstGeom>
          <a:solidFill>
            <a:srgbClr val="3C5A44"/>
          </a:solidFill>
          <a:ln w="12700">
            <a:solidFill>
              <a:srgbClr val="5A7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Transition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6616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C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free-choice “Asymmetric Blocks”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2697480"/>
            <a:ext cx="292608" cy="274320"/>
          </a:xfrm>
          <a:prstGeom prst="chevron">
            <a:avLst/>
          </a:prstGeom>
          <a:solidFill>
            <a:srgbClr val="6E8A7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2514600"/>
            <a:ext cx="640080" cy="640080"/>
          </a:xfrm>
          <a:prstGeom prst="ellipse">
            <a:avLst/>
          </a:prstGeom>
          <a:solidFill>
            <a:srgbClr val="3C5A44"/>
          </a:solidFill>
          <a:ln w="12700">
            <a:solidFill>
              <a:srgbClr val="5A7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C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civic missions; terms soften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23960" y="2697480"/>
            <a:ext cx="292608" cy="274320"/>
          </a:xfrm>
          <a:prstGeom prst="chevron">
            <a:avLst/>
          </a:prstGeom>
          <a:solidFill>
            <a:srgbClr val="6E8A7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0" y="2514600"/>
            <a:ext cx="640080" cy="640080"/>
          </a:xfrm>
          <a:prstGeom prst="ellipse">
            <a:avLst/>
          </a:prstGeom>
          <a:solidFill>
            <a:srgbClr val="3C5A44"/>
          </a:solidFill>
          <a:ln w="12700">
            <a:solidFill>
              <a:srgbClr val="5A7D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525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Stand-Down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05256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C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civilian calendar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C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“Freedom Gauge” — not a wellness score — tracks Routine Consistency until the training wheels come off.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3A5A4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BASECAMP SF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CIVIC SERVICE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 Missions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Reintegration medicine: veterans matched into squads for real civic work across San Francisco — rebuilding camaraderie and purpose.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56616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3566160" cy="914400"/>
          </a:xfrm>
          <a:prstGeom prst="roundRect">
            <a:avLst>
              <a:gd name="adj" fmla="val 14000"/>
            </a:avLst>
          </a:prstGeom>
          <a:solidFill>
            <a:srgbClr val="3A5A4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CIVIC MISSION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Eco-Restoration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Lands End, SF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</a:t>
            </a:r>
            <a:pPr indent="0" marL="0">
              <a:buNone/>
            </a:pPr>
            <a:r>
              <a:rPr lang="en-US" sz="1250" b="1" dirty="0">
                <a:solidFill>
                  <a:srgbClr val="1F2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Sgt. Miller (Ret.)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800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5A7D5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097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Squad 4/6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377440"/>
            <a:ext cx="356616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377440"/>
            <a:ext cx="3566160" cy="914400"/>
          </a:xfrm>
          <a:prstGeom prst="roundRect">
            <a:avLst>
              <a:gd name="adj" fmla="val 14000"/>
            </a:avLst>
          </a:prstGeom>
          <a:solidFill>
            <a:srgbClr val="3A5A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CIVIC MISSION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Garden Build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0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Presidio, SF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434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</a:t>
            </a:r>
            <a:pPr indent="0" marL="0">
              <a:buNone/>
            </a:pPr>
            <a:r>
              <a:rPr lang="en-US" sz="1250" b="1" dirty="0">
                <a:solidFill>
                  <a:srgbClr val="1F2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Cpl. Davis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800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5A7D5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8097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Squad 2 left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2377440"/>
            <a:ext cx="356616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2377440"/>
            <a:ext cx="3566160" cy="914400"/>
          </a:xfrm>
          <a:prstGeom prst="roundRect">
            <a:avLst>
              <a:gd name="adj" fmla="val 14000"/>
            </a:avLst>
          </a:prstGeom>
          <a:solidFill>
            <a:srgbClr val="3A5A40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CIVIC MISSION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Bank Logistics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21040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Dogpatch, SF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434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</a:t>
            </a:r>
            <a:pPr indent="0" marL="0">
              <a:buNone/>
            </a:pPr>
            <a:r>
              <a:rPr lang="en-US" sz="1250" b="1" dirty="0">
                <a:solidFill>
                  <a:srgbClr val="1F2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Lt. Chen (Ret.)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321040" y="4800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5A7D55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8097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Squad Full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DataSF, the Presidio Trust, and Swords to Plowshares.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3A5A4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BASECAMP SF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closed loop, powered by Gradient AI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2331720"/>
            <a:ext cx="512064" cy="512064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9" name="Text 7"/>
          <p:cNvSpPr/>
          <p:nvPr/>
        </p:nvSpPr>
        <p:spPr>
          <a:xfrm>
            <a:off x="161848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SitRep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31012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· readiness · mood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18688" y="2788920"/>
            <a:ext cx="182880" cy="320040"/>
          </a:xfrm>
          <a:prstGeom prst="chevron">
            <a:avLst/>
          </a:prstGeom>
          <a:solidFill>
            <a:srgbClr val="5A7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8848" y="2331720"/>
            <a:ext cx="512064" cy="512064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38728" y="331012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autonomy signals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99048" y="2788920"/>
            <a:ext cx="182880" cy="320040"/>
          </a:xfrm>
          <a:prstGeom prst="chevron">
            <a:avLst/>
          </a:prstGeom>
          <a:solidFill>
            <a:srgbClr val="5A7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9208" y="2331720"/>
            <a:ext cx="512064" cy="512064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21" name="Text 19"/>
          <p:cNvSpPr/>
          <p:nvPr/>
        </p:nvSpPr>
        <p:spPr>
          <a:xfrm>
            <a:off x="737920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Engine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331012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Gauge → phase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79408" y="2788920"/>
            <a:ext cx="182880" cy="320040"/>
          </a:xfrm>
          <a:prstGeom prst="chevron">
            <a:avLst/>
          </a:prstGeom>
          <a:solidFill>
            <a:srgbClr val="5A7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918972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59568" y="2331720"/>
            <a:ext cx="512064" cy="512064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27" name="Text 25"/>
          <p:cNvSpPr/>
          <p:nvPr/>
        </p:nvSpPr>
        <p:spPr>
          <a:xfrm>
            <a:off x="1025956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8116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OPORD Builder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99448" y="331012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schedule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SF data (Library, Rec &amp; Parks, DPH, Presidio, Swords to Plowshares) and demo-proof: if a call fails, a self-contained responder keeps it running.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Prize tracks: Best Use of Gradient AI · Best Use of Data · Best UI/UX · Best Beginner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3A5A4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BASECAMP SF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peer-reviewed pillars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14300" dist="25400" dir="5400000">
              <a:srgbClr val="888888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21408"/>
            <a:ext cx="274320" cy="274320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Activation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routines combat avoidance &amp; executive dysfunction (Etherton &amp; Farley, 2020; g = 1.48).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14300" dist="25400" dir="5400000">
              <a:srgbClr val="88888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21408"/>
            <a:ext cx="274320" cy="274320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Nature-Assisted Therapy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Green-space “Active Recovery” lowers cortisol and hypervigilance (Bettmann et al., 2023).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14300" dist="25400" dir="5400000">
              <a:srgbClr val="88888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087368"/>
            <a:ext cx="274320" cy="274320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 Volunteering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of service dropped veteran PTSD 50%→43%, depression 23.5%→15% (SLU/DAV, 2018).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9C9"/>
            </a:solidFill>
            <a:prstDash val="solid"/>
          </a:ln>
          <a:effectLst>
            <a:outerShdw sx="100000" sy="100000" kx="0" ky="0" algn="bl" rotWithShape="0" blurRad="114300" dist="25400" dir="5400000">
              <a:srgbClr val="888888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87368"/>
            <a:ext cx="274320" cy="274320"/>
          </a:xfrm>
          <a:prstGeom prst="ellipse">
            <a:avLst/>
          </a:prstGeom>
          <a:solidFill>
            <a:srgbClr val="3A5A4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Camaraderie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75.8% of younger veterans call peer connection critical to recovery (JAMA Netw. Open).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F6F3E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777240"/>
            <a:ext cx="1188720" cy="1188720"/>
          </a:xfrm>
          <a:prstGeom prst="ellipse">
            <a:avLst/>
          </a:prstGeom>
          <a:solidFill>
            <a:srgbClr val="5A7D55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served.</a:t>
            </a:r>
            <a:endParaRPr lang="en-US" sz="4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6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hand the compass back.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Basecamp SF — from isolated survival mode to visible community leadership.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7C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vnmoorthy.github.io/mindbridge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D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github.com/vnmoorthy/mindbridge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live on DigitalOcean Gradient AI.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Basecamp SF — Pitch Deck</dc:title>
  <dc:subject>PptxGenJS Presentation</dc:subject>
  <dc:creator>Basecamp SF Team</dc:creator>
  <cp:lastModifiedBy>Basecamp SF Team</cp:lastModifiedBy>
  <cp:revision>1</cp:revision>
  <dcterms:created xsi:type="dcterms:W3CDTF">2026-07-11T21:17:02Z</dcterms:created>
  <dcterms:modified xsi:type="dcterms:W3CDTF">2026-07-11T21:17:02Z</dcterms:modified>
</cp:coreProperties>
</file>